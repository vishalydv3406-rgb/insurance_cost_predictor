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Insurance AI Pro+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End-to-End Data Science Project</a:t>
            </a:r>
          </a:p>
          <a:p>
            <a:r>
              <a:t>Name: Vishal Yadav</a:t>
            </a:r>
          </a:p>
          <a:p>
            <a:r>
              <a:t>Register No: [Replace with your Register No]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 &amp;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Abstract</a:t>
            </a:r>
          </a:p>
          <a:p>
            <a:pPr lvl="1"/>
            <a:r>
              <a:t>Insurance AI Pro+ is an intelligent multi-domain insurance quotation system. It predicts insurance premiums and claim amounts using machine learning while providing Explainable AI (XAI) insights to users.</a:t>
            </a:r>
          </a:p>
          <a:p>
            <a:pPr/>
            <a:r>
              <a:t>Introduction</a:t>
            </a:r>
          </a:p>
          <a:p>
            <a:pPr lvl="1"/>
            <a:r>
              <a:t>Traditional actuarial models lack transparency for end-users. This project aims to bridge the gap by deploying dynamic, real-time prediction models across health, life, motor, property, business, specialty, and travel insurance.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Characteristics</a:t>
            </a:r>
          </a:p>
          <a:p>
            <a:pPr lvl="1"/>
            <a:r>
              <a:t>Source: Custom statistical generation mirroring epidemiological/real-world distributions.</a:t>
            </a:r>
          </a:p>
          <a:p>
            <a:pPr lvl="1"/>
            <a:r>
              <a:t>Records: Over 120,000 composite records.</a:t>
            </a:r>
          </a:p>
          <a:p>
            <a:pPr lvl="1"/>
            <a:r>
              <a:t>Domains: Claim (50k rows), Health, Life, Motor, Business, Property, Travel, Specialty (each 10k rows).</a:t>
            </a:r>
          </a:p>
          <a:p>
            <a:pPr lvl="1"/>
            <a:r>
              <a:t>Features: Core biological (Age, BMI, Blood Pressure), Categorical (Region, Smoker Status), Financial (Coverage Amount, No_Claim_Years).</a:t>
            </a:r>
          </a:p>
          <a:p>
            <a:pPr lvl="1"/>
            <a:r>
              <a:t>Target Variable: Premium / Claim Amount.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Business Dataset (Part 1)</a:t>
            </a:r>
          </a:p>
        </p:txBody>
      </p:sp>
      <p:pic>
        <p:nvPicPr>
          <p:cNvPr id="3" name="Picture 2" descr="Business_box_Business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Business box Business Type</a:t>
            </a:r>
          </a:p>
        </p:txBody>
      </p:sp>
      <p:pic>
        <p:nvPicPr>
          <p:cNvPr id="5" name="Picture 4" descr="Business_box_Risk_Lev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Business box Risk Level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Business Dataset (Part 2)</a:t>
            </a:r>
          </a:p>
        </p:txBody>
      </p:sp>
      <p:pic>
        <p:nvPicPr>
          <p:cNvPr id="3" name="Picture 2" descr="Business_box_Sub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Business box Sub Type</a:t>
            </a:r>
          </a:p>
        </p:txBody>
      </p:sp>
      <p:pic>
        <p:nvPicPr>
          <p:cNvPr id="5" name="Picture 4" descr="Business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3145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Business correlation matrix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Business Dataset (Part 3)</a:t>
            </a:r>
          </a:p>
        </p:txBody>
      </p:sp>
      <p:pic>
        <p:nvPicPr>
          <p:cNvPr id="3" name="Picture 2" descr="Business_ncb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Business ncb impact</a:t>
            </a:r>
          </a:p>
        </p:txBody>
      </p:sp>
      <p:pic>
        <p:nvPicPr>
          <p:cNvPr id="5" name="Picture 4" descr="Business_scatter_vs_Coverage_Am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Business scatter vs Coverage Amount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Business Dataset (Part 4)</a:t>
            </a:r>
          </a:p>
        </p:txBody>
      </p:sp>
      <p:pic>
        <p:nvPicPr>
          <p:cNvPr id="3" name="Picture 2" descr="Business_scatter_vs_No_Claim_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808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Business scatter vs No Claim Years</a:t>
            </a:r>
          </a:p>
        </p:txBody>
      </p:sp>
      <p:pic>
        <p:nvPicPr>
          <p:cNvPr id="5" name="Picture 4" descr="Business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Business target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Claim Dataset (Part 1)</a:t>
            </a:r>
          </a:p>
        </p:txBody>
      </p:sp>
      <p:pic>
        <p:nvPicPr>
          <p:cNvPr id="3" name="Picture 2" descr="Claim_box_diabe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box diabetic</a:t>
            </a:r>
          </a:p>
        </p:txBody>
      </p:sp>
      <p:pic>
        <p:nvPicPr>
          <p:cNvPr id="5" name="Picture 4" descr="Claim_box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box gender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Claim Dataset (Part 2)</a:t>
            </a:r>
          </a:p>
        </p:txBody>
      </p:sp>
      <p:pic>
        <p:nvPicPr>
          <p:cNvPr id="3" name="Picture 2" descr="Claim_box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box region</a:t>
            </a:r>
          </a:p>
        </p:txBody>
      </p:sp>
      <p:pic>
        <p:nvPicPr>
          <p:cNvPr id="5" name="Picture 4" descr="Claim_box_smo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box smoker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Claim Dataset (Part 3)</a:t>
            </a:r>
          </a:p>
        </p:txBody>
      </p:sp>
      <p:pic>
        <p:nvPicPr>
          <p:cNvPr id="3" name="Picture 2" descr="Claim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31455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correlation matrix</a:t>
            </a:r>
          </a:p>
        </p:txBody>
      </p:sp>
      <p:pic>
        <p:nvPicPr>
          <p:cNvPr id="5" name="Picture 4" descr="Claim_ncb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ncb impact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Claim Dataset (Part 4)</a:t>
            </a:r>
          </a:p>
        </p:txBody>
      </p:sp>
      <p:pic>
        <p:nvPicPr>
          <p:cNvPr id="3" name="Picture 2" descr="Claim_scatter_vs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808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scatter vs age</a:t>
            </a:r>
          </a:p>
        </p:txBody>
      </p:sp>
      <p:pic>
        <p:nvPicPr>
          <p:cNvPr id="5" name="Picture 4" descr="Claim_scatter_vs_b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scatter vs bmi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Claim Dataset (Part 5)</a:t>
            </a:r>
          </a:p>
        </p:txBody>
      </p:sp>
      <p:pic>
        <p:nvPicPr>
          <p:cNvPr id="3" name="Picture 2" descr="Claim_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Claim target distribution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Health Dataset (Part 1)</a:t>
            </a:r>
          </a:p>
        </p:txBody>
      </p:sp>
      <p:pic>
        <p:nvPicPr>
          <p:cNvPr id="3" name="Picture 2" descr="Health_box_Hospital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Health box Hospital Network</a:t>
            </a:r>
          </a:p>
        </p:txBody>
      </p:sp>
      <p:pic>
        <p:nvPicPr>
          <p:cNvPr id="5" name="Picture 4" descr="Health_box_Pre_Existing_Dis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Health box Pre Existing Disease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Health Dataset (Part 2)</a:t>
            </a:r>
          </a:p>
        </p:txBody>
      </p:sp>
      <p:pic>
        <p:nvPicPr>
          <p:cNvPr id="3" name="Picture 2" descr="Health_box_Sub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Health box Sub Type</a:t>
            </a:r>
          </a:p>
        </p:txBody>
      </p:sp>
      <p:pic>
        <p:nvPicPr>
          <p:cNvPr id="5" name="Picture 4" descr="Health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3145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Health correlation matrix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Health Dataset (Part 3)</a:t>
            </a:r>
          </a:p>
        </p:txBody>
      </p:sp>
      <p:pic>
        <p:nvPicPr>
          <p:cNvPr id="3" name="Picture 2" descr="Health_ncb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Health ncb impact</a:t>
            </a:r>
          </a:p>
        </p:txBody>
      </p:sp>
      <p:pic>
        <p:nvPicPr>
          <p:cNvPr id="5" name="Picture 4" descr="Health_scatter_vs_Coverage_Am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Health scatter vs Coverage Amount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Health Dataset (Part 4)</a:t>
            </a:r>
          </a:p>
        </p:txBody>
      </p:sp>
      <p:pic>
        <p:nvPicPr>
          <p:cNvPr id="3" name="Picture 2" descr="Health_scatter_vs_No_Claim_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808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Health scatter vs No Claim Years</a:t>
            </a:r>
          </a:p>
        </p:txBody>
      </p:sp>
      <p:pic>
        <p:nvPicPr>
          <p:cNvPr id="5" name="Picture 4" descr="Health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Health target distribution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Life Dataset (Part 1)</a:t>
            </a:r>
          </a:p>
        </p:txBody>
      </p:sp>
      <p:pic>
        <p:nvPicPr>
          <p:cNvPr id="3" name="Picture 2" descr="Life_box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Life box Gender</a:t>
            </a:r>
          </a:p>
        </p:txBody>
      </p:sp>
      <p:pic>
        <p:nvPicPr>
          <p:cNvPr id="5" name="Picture 4" descr="Life_box_Nominee_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Life box Nominee Relation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Life Dataset (Part 2)</a:t>
            </a:r>
          </a:p>
        </p:txBody>
      </p:sp>
      <p:pic>
        <p:nvPicPr>
          <p:cNvPr id="3" name="Picture 2" descr="Life_box_Sub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Life box Sub Type</a:t>
            </a:r>
          </a:p>
        </p:txBody>
      </p:sp>
      <p:pic>
        <p:nvPicPr>
          <p:cNvPr id="5" name="Picture 4" descr="Life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3145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Life correlation matrix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Life Dataset (Part 3)</a:t>
            </a:r>
          </a:p>
        </p:txBody>
      </p:sp>
      <p:pic>
        <p:nvPicPr>
          <p:cNvPr id="3" name="Picture 2" descr="Life_ncb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Life ncb impact</a:t>
            </a:r>
          </a:p>
        </p:txBody>
      </p:sp>
      <p:pic>
        <p:nvPicPr>
          <p:cNvPr id="5" name="Picture 4" descr="Life_scatter_vs_Coverage_Am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Life scatter vs Coverage Amount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Life Dataset (Part 4)</a:t>
            </a:r>
          </a:p>
        </p:txBody>
      </p:sp>
      <p:pic>
        <p:nvPicPr>
          <p:cNvPr id="3" name="Picture 2" descr="Life_scatter_vs_No_Claim_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808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Life scatter vs No Claim Years</a:t>
            </a:r>
          </a:p>
        </p:txBody>
      </p:sp>
      <p:pic>
        <p:nvPicPr>
          <p:cNvPr id="5" name="Picture 4" descr="Life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Life target distribution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Motor Dataset (Part 1)</a:t>
            </a:r>
          </a:p>
        </p:txBody>
      </p:sp>
      <p:pic>
        <p:nvPicPr>
          <p:cNvPr id="3" name="Picture 2" descr="Motor_box_Accident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Motor box Accident History</a:t>
            </a:r>
          </a:p>
        </p:txBody>
      </p:sp>
      <p:pic>
        <p:nvPicPr>
          <p:cNvPr id="5" name="Picture 4" descr="Motor_box_Sub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Motor box Sub Type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Motor Dataset (Part 2)</a:t>
            </a:r>
          </a:p>
        </p:txBody>
      </p:sp>
      <p:pic>
        <p:nvPicPr>
          <p:cNvPr id="3" name="Picture 2" descr="Motor_box_Vehicle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Motor box Vehicle Type</a:t>
            </a:r>
          </a:p>
        </p:txBody>
      </p:sp>
      <p:pic>
        <p:nvPicPr>
          <p:cNvPr id="5" name="Picture 4" descr="Motor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3145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Motor correlation matrix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Motor Dataset (Part 3)</a:t>
            </a:r>
          </a:p>
        </p:txBody>
      </p:sp>
      <p:pic>
        <p:nvPicPr>
          <p:cNvPr id="3" name="Picture 2" descr="Motor_ncb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Motor ncb impact</a:t>
            </a:r>
          </a:p>
        </p:txBody>
      </p:sp>
      <p:pic>
        <p:nvPicPr>
          <p:cNvPr id="5" name="Picture 4" descr="Motor_scatter_vs_Coverage_Am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Motor scatter vs Coverage Amount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Motor Dataset (Part 4)</a:t>
            </a:r>
          </a:p>
        </p:txBody>
      </p:sp>
      <p:pic>
        <p:nvPicPr>
          <p:cNvPr id="3" name="Picture 2" descr="Motor_scatter_vs_No_Claim_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808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Motor scatter vs No Claim Years</a:t>
            </a:r>
          </a:p>
        </p:txBody>
      </p:sp>
      <p:pic>
        <p:nvPicPr>
          <p:cNvPr id="5" name="Picture 4" descr="Motor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Motor target distribution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Property Dataset (Part 1)</a:t>
            </a:r>
          </a:p>
        </p:txBody>
      </p:sp>
      <p:pic>
        <p:nvPicPr>
          <p:cNvPr id="3" name="Picture 2" descr="Property_box_Property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Property box Property Type</a:t>
            </a:r>
          </a:p>
        </p:txBody>
      </p:sp>
      <p:pic>
        <p:nvPicPr>
          <p:cNvPr id="5" name="Picture 4" descr="Property_box_Risk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Property box Risk Type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Property Dataset (Part 2)</a:t>
            </a:r>
          </a:p>
        </p:txBody>
      </p:sp>
      <p:pic>
        <p:nvPicPr>
          <p:cNvPr id="3" name="Picture 2" descr="Property_box_Sub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Property box Sub Type</a:t>
            </a:r>
          </a:p>
        </p:txBody>
      </p:sp>
      <p:pic>
        <p:nvPicPr>
          <p:cNvPr id="5" name="Picture 4" descr="Property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3145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Property correlation matrix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Property Dataset (Part 3)</a:t>
            </a:r>
          </a:p>
        </p:txBody>
      </p:sp>
      <p:pic>
        <p:nvPicPr>
          <p:cNvPr id="3" name="Picture 2" descr="Property_ncb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Property ncb impact</a:t>
            </a:r>
          </a:p>
        </p:txBody>
      </p:sp>
      <p:pic>
        <p:nvPicPr>
          <p:cNvPr id="5" name="Picture 4" descr="Property_scatter_vs_No_Claim_Ye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Property scatter vs No Claim Years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Property Dataset (Part 4)</a:t>
            </a:r>
          </a:p>
        </p:txBody>
      </p:sp>
      <p:pic>
        <p:nvPicPr>
          <p:cNvPr id="3" name="Picture 2" descr="Property_scatter_vs_Property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808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Property scatter vs Property Value</a:t>
            </a:r>
          </a:p>
        </p:txBody>
      </p:sp>
      <p:pic>
        <p:nvPicPr>
          <p:cNvPr id="5" name="Picture 4" descr="Property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Property target distribution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Specialty Dataset (Part 1)</a:t>
            </a:r>
          </a:p>
        </p:txBody>
      </p:sp>
      <p:pic>
        <p:nvPicPr>
          <p:cNvPr id="3" name="Picture 2" descr="Specialty_box_Asset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Specialty box Asset Type</a:t>
            </a:r>
          </a:p>
        </p:txBody>
      </p:sp>
      <p:pic>
        <p:nvPicPr>
          <p:cNvPr id="5" name="Picture 4" descr="Specialty_box_Risk_Fa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Specialty box Risk Factor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Specialty Dataset (Part 2)</a:t>
            </a:r>
          </a:p>
        </p:txBody>
      </p:sp>
      <p:pic>
        <p:nvPicPr>
          <p:cNvPr id="3" name="Picture 2" descr="Specialty_box_Sub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Specialty box Sub Type</a:t>
            </a:r>
          </a:p>
        </p:txBody>
      </p:sp>
      <p:pic>
        <p:nvPicPr>
          <p:cNvPr id="5" name="Picture 4" descr="Specialty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3145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Specialty correlation matrix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Specialty Dataset (Part 3)</a:t>
            </a:r>
          </a:p>
        </p:txBody>
      </p:sp>
      <p:pic>
        <p:nvPicPr>
          <p:cNvPr id="3" name="Picture 2" descr="Specialty_ncb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Specialty ncb impact</a:t>
            </a:r>
          </a:p>
        </p:txBody>
      </p:sp>
      <p:pic>
        <p:nvPicPr>
          <p:cNvPr id="5" name="Picture 4" descr="Specialty_scatter_vs_Coverage_Am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Specialty scatter vs Coverage Amount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Specialty Dataset (Part 4)</a:t>
            </a:r>
          </a:p>
        </p:txBody>
      </p:sp>
      <p:pic>
        <p:nvPicPr>
          <p:cNvPr id="3" name="Picture 2" descr="Specialty_scatter_vs_No_Claim_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808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Specialty scatter vs No Claim Years</a:t>
            </a:r>
          </a:p>
        </p:txBody>
      </p:sp>
      <p:pic>
        <p:nvPicPr>
          <p:cNvPr id="5" name="Picture 4" descr="Specialty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Specialty target distribution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Travel Dataset (Part 1)</a:t>
            </a:r>
          </a:p>
        </p:txBody>
      </p:sp>
      <p:pic>
        <p:nvPicPr>
          <p:cNvPr id="3" name="Picture 2" descr="Travel_box_Dest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Travel box Destination</a:t>
            </a:r>
          </a:p>
        </p:txBody>
      </p:sp>
      <p:pic>
        <p:nvPicPr>
          <p:cNvPr id="5" name="Picture 4" descr="Travel_box_Medical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Travel box Medical Cover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Travel Dataset (Part 2)</a:t>
            </a:r>
          </a:p>
        </p:txBody>
      </p:sp>
      <p:pic>
        <p:nvPicPr>
          <p:cNvPr id="3" name="Picture 2" descr="Travel_box_Trip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Travel box Trip Type</a:t>
            </a:r>
          </a:p>
        </p:txBody>
      </p:sp>
      <p:pic>
        <p:nvPicPr>
          <p:cNvPr id="5" name="Picture 4" descr="Travel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3145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Travel correlation matrix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Travel Dataset (Part 3)</a:t>
            </a:r>
          </a:p>
        </p:txBody>
      </p:sp>
      <p:pic>
        <p:nvPicPr>
          <p:cNvPr id="3" name="Picture 2" descr="Travel_ncb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4574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Travel ncb impact</a:t>
            </a:r>
          </a:p>
        </p:txBody>
      </p:sp>
      <p:pic>
        <p:nvPicPr>
          <p:cNvPr id="5" name="Picture 4" descr="Travel_scatter_vs_Coverage_Amou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808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Travel scatter vs Coverage Amount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EDA Visualization: Travel Dataset (Part 4)</a:t>
            </a:r>
          </a:p>
        </p:txBody>
      </p:sp>
      <p:pic>
        <p:nvPicPr>
          <p:cNvPr id="3" name="Picture 2" descr="Travel_scatter_vs_No_Claim_Ye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931920" cy="28085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Travel scatter vs No Claim Years</a:t>
            </a:r>
          </a:p>
        </p:txBody>
      </p:sp>
      <p:pic>
        <p:nvPicPr>
          <p:cNvPr id="5" name="Picture 4" descr="Travel_targe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371600"/>
            <a:ext cx="3931920" cy="2457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548640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Travel target distribution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Pre-Processing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Transformation Strategies</a:t>
            </a:r>
          </a:p>
          <a:p>
            <a:pPr lvl="1"/>
            <a:r>
              <a:t>Missing Values: Median strategy for numericals (SimpleImputer) and Constant strategy ('Unknown') for categoricals.</a:t>
            </a:r>
          </a:p>
          <a:p>
            <a:pPr lvl="1"/>
            <a:r>
              <a:t>Outliers: Variables mathematically capped via np.clip to prevent variance skew.</a:t>
            </a:r>
          </a:p>
          <a:p>
            <a:pPr lvl="1"/>
            <a:r>
              <a:t>Scaling: Normalization via StandardScaler targeting optimal geometric space for distance algorithms (e.g. KNN/SVR).</a:t>
            </a:r>
          </a:p>
          <a:p>
            <a:pPr lvl="1"/>
            <a:r>
              <a:t>Encoding: LabelEncoder (binary) &amp; OneHotEncoder for multi-class categorical configurations.</a:t>
            </a:r>
          </a:p>
          <a:p>
            <a:pPr lvl="1"/>
            <a:r>
              <a:t>Feature Engineering: Synthesized variables via PolynomialFeatures (e.g. Compound actuarial risk of Age + Smoking).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Built vs Expected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Machine Learning Evaluation Baseline:</a:t>
            </a:r>
          </a:p>
          <a:p>
            <a:pPr lvl="1"/>
            <a:r>
              <a:t>Linear Algorithms: Linear Regression, SVR, KNN.</a:t>
            </a:r>
          </a:p>
          <a:p>
            <a:pPr lvl="1"/>
            <a:r>
              <a:t>Tree Ensembles: Random Forest, Decision Tree.</a:t>
            </a:r>
          </a:p>
          <a:p>
            <a:pPr lvl="1"/>
            <a:r>
              <a:t>Boosting Mechanisms: Gradient Boosting, XGBoost.</a:t>
            </a:r>
          </a:p>
          <a:p>
            <a:pPr/>
            <a:r>
              <a:t>Final Output Profiles:</a:t>
            </a:r>
          </a:p>
          <a:p>
            <a:pPr lvl="1"/>
            <a:r>
              <a:t>Accuracy Benchmark: Maximum accepted Mean Absolute Error capped safely under ~$550 tolerance.</a:t>
            </a:r>
          </a:p>
          <a:p>
            <a:pPr lvl="1"/>
            <a:r>
              <a:t>Best Method Found: Gradient Boosting mapped non-linear incentives successfully (R²: 0.9362 with MAE: $473).</a:t>
            </a:r>
          </a:p>
          <a:p>
            <a:pPr lvl="1"/>
            <a:r>
              <a:t>Risk Profiler: Binary mapping users via Random Forest as High/Low risk yielded a highly resilient 99.71% test accuracy.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Prediction Outcomes by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Model Performace (R² Score) Extrapolated Across Domains:</a:t>
            </a:r>
          </a:p>
          <a:p>
            <a:pPr lvl="1"/>
            <a:r>
              <a:t>Core Claim Dataset: Gradient Boosting successfully achieved 0.9362 R² ($473 MAE).</a:t>
            </a:r>
          </a:p>
          <a:p>
            <a:pPr lvl="1"/>
            <a:r>
              <a:t>Travel Insurance: Top model yielded 0.7209 R².</a:t>
            </a:r>
          </a:p>
          <a:p>
            <a:pPr lvl="1"/>
            <a:r>
              <a:t>Life Insurance: Top model yielded 0.6828 R².</a:t>
            </a:r>
          </a:p>
          <a:p>
            <a:pPr lvl="1"/>
            <a:r>
              <a:t>Health Insurance: Top model yielded 0.6576 R².</a:t>
            </a:r>
          </a:p>
          <a:p>
            <a:pPr lvl="1"/>
            <a:r>
              <a:t>Motor Insurance: Top model yielded 0.6301 R².</a:t>
            </a:r>
          </a:p>
          <a:p>
            <a:pPr lvl="1"/>
            <a:r>
              <a:t>Property Insurance: Only dataset where Linear Regression prevailed (0.6253 R²).</a:t>
            </a:r>
          </a:p>
          <a:p>
            <a:pPr lvl="1"/>
            <a:r>
              <a:t>Business Insurance: Top model yielded 0.5967 R².</a:t>
            </a:r>
          </a:p>
          <a:p>
            <a:pPr lvl="1"/>
            <a:r>
              <a:t>Specialty Insurance: Top model yielded 0.5927 R².</a:t>
            </a:r>
          </a:p>
          <a:p>
            <a:pPr/>
            <a:r>
              <a:t>Conclusion: Non-linear boosting models drastically outperform standardized distance formulas for insurance computation.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