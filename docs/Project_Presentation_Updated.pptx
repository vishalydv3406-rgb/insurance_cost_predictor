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AI Pro+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Science Project</a:t>
            </a:r>
          </a:p>
          <a:p>
            <a:r>
              <a:t>Name: Vishal Yadav</a:t>
            </a:r>
          </a:p>
          <a:p>
            <a:r>
              <a:t>Register No: [Replace with your Register 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and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</a:t>
            </a:r>
          </a:p>
          <a:p>
            <a:pPr lvl="1"/>
            <a:r>
              <a:t>Insurance AI Pro+ is an intelligent multi-domain insurance quotation system. It predicts insurance premiums and claim amounts using machine learning while providing Explainable AI (XAI) insights to users.</a:t>
            </a:r>
          </a:p>
          <a:p>
            <a:pPr/>
            <a:r>
              <a:t>Introduction</a:t>
            </a:r>
          </a:p>
          <a:p>
            <a:pPr lvl="1"/>
            <a:r>
              <a:t>Traditional actuarial models lack transparency for end-users. This project aims to bridge the gap by deploying dynamic, real-time prediction models across health, life, motor, property, business, specialty, and travel insurance.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Characteristics</a:t>
            </a:r>
          </a:p>
          <a:p>
            <a:pPr lvl="1"/>
            <a:r>
              <a:t>Source: Custom statistical generation mirroring epidemiological/real-world distributions.</a:t>
            </a:r>
          </a:p>
          <a:p>
            <a:pPr lvl="1"/>
            <a:r>
              <a:t>Records: Over 120,000 composite records.</a:t>
            </a:r>
          </a:p>
          <a:p>
            <a:pPr lvl="1"/>
            <a:r>
              <a:t>Domains: Claim (50k rows), Health, Life, Motor, Business, Property, Travel, Specialty (each 10k rows).</a:t>
            </a:r>
          </a:p>
          <a:p>
            <a:pPr lvl="1"/>
            <a:r>
              <a:t>Features: Core biological (Age, BMI, Blood Pressure), Categorical (Region, Smoker Status), Financial (Coverage Amount, No_Claim_Years).</a:t>
            </a:r>
          </a:p>
          <a:p>
            <a:pPr lvl="1"/>
            <a:r>
              <a:t>Target Variable: Premium / Claim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1)</a:t>
            </a:r>
          </a:p>
        </p:txBody>
      </p:sp>
      <p:pic>
        <p:nvPicPr>
          <p:cNvPr id="3" name="Picture 2" descr="Business_box_Business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Business Type</a:t>
            </a:r>
          </a:p>
        </p:txBody>
      </p:sp>
      <p:pic>
        <p:nvPicPr>
          <p:cNvPr id="5" name="Picture 4" descr="Business_box_Risk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Risk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2)</a:t>
            </a:r>
          </a:p>
        </p:txBody>
      </p:sp>
      <p:pic>
        <p:nvPicPr>
          <p:cNvPr id="3" name="Picture 2" descr="Business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Sub Type</a:t>
            </a:r>
          </a:p>
        </p:txBody>
      </p:sp>
      <p:pic>
        <p:nvPicPr>
          <p:cNvPr id="5" name="Picture 4" descr="Business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correlation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3)</a:t>
            </a:r>
          </a:p>
        </p:txBody>
      </p:sp>
      <p:pic>
        <p:nvPicPr>
          <p:cNvPr id="3" name="Picture 2" descr="Business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ncb impact</a:t>
            </a:r>
          </a:p>
        </p:txBody>
      </p:sp>
      <p:pic>
        <p:nvPicPr>
          <p:cNvPr id="5" name="Picture 4" descr="Business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Coverage 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4)</a:t>
            </a:r>
          </a:p>
        </p:txBody>
      </p:sp>
      <p:pic>
        <p:nvPicPr>
          <p:cNvPr id="3" name="Picture 2" descr="Business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No Claim Years</a:t>
            </a:r>
          </a:p>
        </p:txBody>
      </p:sp>
      <p:pic>
        <p:nvPicPr>
          <p:cNvPr id="5" name="Picture 4" descr="Business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target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1)</a:t>
            </a:r>
          </a:p>
        </p:txBody>
      </p:sp>
      <p:pic>
        <p:nvPicPr>
          <p:cNvPr id="3" name="Picture 2" descr="Claim_box_diab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diabetic</a:t>
            </a:r>
          </a:p>
        </p:txBody>
      </p:sp>
      <p:pic>
        <p:nvPicPr>
          <p:cNvPr id="5" name="Picture 4" descr="Claim_box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gender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2)</a:t>
            </a:r>
          </a:p>
        </p:txBody>
      </p:sp>
      <p:pic>
        <p:nvPicPr>
          <p:cNvPr id="3" name="Picture 2" descr="Claim_box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region</a:t>
            </a:r>
          </a:p>
        </p:txBody>
      </p:sp>
      <p:pic>
        <p:nvPicPr>
          <p:cNvPr id="5" name="Picture 4" descr="Claim_box_smo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smoker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3)</a:t>
            </a:r>
          </a:p>
        </p:txBody>
      </p:sp>
      <p:pic>
        <p:nvPicPr>
          <p:cNvPr id="3" name="Picture 2" descr="Claim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145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correlation matrix</a:t>
            </a:r>
          </a:p>
        </p:txBody>
      </p:sp>
      <p:pic>
        <p:nvPicPr>
          <p:cNvPr id="5" name="Picture 4" descr="Claim_ncb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ncb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4)</a:t>
            </a:r>
          </a:p>
        </p:txBody>
      </p:sp>
      <p:pic>
        <p:nvPicPr>
          <p:cNvPr id="3" name="Picture 2" descr="Claim_scatter_vs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age</a:t>
            </a:r>
          </a:p>
        </p:txBody>
      </p:sp>
      <p:pic>
        <p:nvPicPr>
          <p:cNvPr id="5" name="Picture 4" descr="Claim_scatter_vs_b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bmi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5)</a:t>
            </a:r>
          </a:p>
        </p:txBody>
      </p:sp>
      <p:pic>
        <p:nvPicPr>
          <p:cNvPr id="3" name="Picture 2" descr="Claim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target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1)</a:t>
            </a:r>
          </a:p>
        </p:txBody>
      </p:sp>
      <p:pic>
        <p:nvPicPr>
          <p:cNvPr id="3" name="Picture 2" descr="Health_box_Hospital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Hospital Network</a:t>
            </a:r>
          </a:p>
        </p:txBody>
      </p:sp>
      <p:pic>
        <p:nvPicPr>
          <p:cNvPr id="5" name="Picture 4" descr="Health_box_Pre_Existing_Dis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Pre Existing Disease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2)</a:t>
            </a:r>
          </a:p>
        </p:txBody>
      </p:sp>
      <p:pic>
        <p:nvPicPr>
          <p:cNvPr id="3" name="Picture 2" descr="Health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Sub Type</a:t>
            </a:r>
          </a:p>
        </p:txBody>
      </p:sp>
      <p:pic>
        <p:nvPicPr>
          <p:cNvPr id="5" name="Picture 4" descr="Health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correlation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3)</a:t>
            </a:r>
          </a:p>
        </p:txBody>
      </p:sp>
      <p:pic>
        <p:nvPicPr>
          <p:cNvPr id="3" name="Picture 2" descr="Health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ncb impact</a:t>
            </a:r>
          </a:p>
        </p:txBody>
      </p:sp>
      <p:pic>
        <p:nvPicPr>
          <p:cNvPr id="5" name="Picture 4" descr="Health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Coverage Amount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4)</a:t>
            </a:r>
          </a:p>
        </p:txBody>
      </p:sp>
      <p:pic>
        <p:nvPicPr>
          <p:cNvPr id="3" name="Picture 2" descr="Health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No Claim Years</a:t>
            </a:r>
          </a:p>
        </p:txBody>
      </p:sp>
      <p:pic>
        <p:nvPicPr>
          <p:cNvPr id="5" name="Picture 4" descr="Health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target distribution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1)</a:t>
            </a:r>
          </a:p>
        </p:txBody>
      </p:sp>
      <p:pic>
        <p:nvPicPr>
          <p:cNvPr id="3" name="Picture 2" descr="Life_box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Gender</a:t>
            </a:r>
          </a:p>
        </p:txBody>
      </p:sp>
      <p:pic>
        <p:nvPicPr>
          <p:cNvPr id="5" name="Picture 4" descr="Life_box_Nominee_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Nominee Relation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2)</a:t>
            </a:r>
          </a:p>
        </p:txBody>
      </p:sp>
      <p:pic>
        <p:nvPicPr>
          <p:cNvPr id="3" name="Picture 2" descr="Life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Sub Type</a:t>
            </a:r>
          </a:p>
        </p:txBody>
      </p:sp>
      <p:pic>
        <p:nvPicPr>
          <p:cNvPr id="5" name="Picture 4" descr="Life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correlation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3)</a:t>
            </a:r>
          </a:p>
        </p:txBody>
      </p:sp>
      <p:pic>
        <p:nvPicPr>
          <p:cNvPr id="3" name="Picture 2" descr="Life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ncb impact</a:t>
            </a:r>
          </a:p>
        </p:txBody>
      </p:sp>
      <p:pic>
        <p:nvPicPr>
          <p:cNvPr id="5" name="Picture 4" descr="Life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Coverage Amount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4)</a:t>
            </a:r>
          </a:p>
        </p:txBody>
      </p:sp>
      <p:pic>
        <p:nvPicPr>
          <p:cNvPr id="3" name="Picture 2" descr="Life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No Claim Years</a:t>
            </a:r>
          </a:p>
        </p:txBody>
      </p:sp>
      <p:pic>
        <p:nvPicPr>
          <p:cNvPr id="5" name="Picture 4" descr="Life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target 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1)</a:t>
            </a:r>
          </a:p>
        </p:txBody>
      </p:sp>
      <p:pic>
        <p:nvPicPr>
          <p:cNvPr id="3" name="Picture 2" descr="Motor_box_Acciden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Accident History</a:t>
            </a:r>
          </a:p>
        </p:txBody>
      </p:sp>
      <p:pic>
        <p:nvPicPr>
          <p:cNvPr id="5" name="Picture 4" descr="Motor_box_Sub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Sub Type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2)</a:t>
            </a:r>
          </a:p>
        </p:txBody>
      </p:sp>
      <p:pic>
        <p:nvPicPr>
          <p:cNvPr id="3" name="Picture 2" descr="Motor_box_Vehicl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Vehicle Type</a:t>
            </a:r>
          </a:p>
        </p:txBody>
      </p:sp>
      <p:pic>
        <p:nvPicPr>
          <p:cNvPr id="5" name="Picture 4" descr="Motor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correlation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3)</a:t>
            </a:r>
          </a:p>
        </p:txBody>
      </p:sp>
      <p:pic>
        <p:nvPicPr>
          <p:cNvPr id="3" name="Picture 2" descr="Motor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ncb impact</a:t>
            </a:r>
          </a:p>
        </p:txBody>
      </p:sp>
      <p:pic>
        <p:nvPicPr>
          <p:cNvPr id="5" name="Picture 4" descr="Motor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Coverage Amount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4)</a:t>
            </a:r>
          </a:p>
        </p:txBody>
      </p:sp>
      <p:pic>
        <p:nvPicPr>
          <p:cNvPr id="3" name="Picture 2" descr="Motor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No Claim Years</a:t>
            </a:r>
          </a:p>
        </p:txBody>
      </p:sp>
      <p:pic>
        <p:nvPicPr>
          <p:cNvPr id="5" name="Picture 4" descr="Motor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target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1)</a:t>
            </a:r>
          </a:p>
        </p:txBody>
      </p:sp>
      <p:pic>
        <p:nvPicPr>
          <p:cNvPr id="3" name="Picture 2" descr="Property_box_Propert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Property Type</a:t>
            </a:r>
          </a:p>
        </p:txBody>
      </p:sp>
      <p:pic>
        <p:nvPicPr>
          <p:cNvPr id="5" name="Picture 4" descr="Property_box_Risk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Risk Type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2)</a:t>
            </a:r>
          </a:p>
        </p:txBody>
      </p:sp>
      <p:pic>
        <p:nvPicPr>
          <p:cNvPr id="3" name="Picture 2" descr="Proper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Sub Type</a:t>
            </a:r>
          </a:p>
        </p:txBody>
      </p:sp>
      <p:pic>
        <p:nvPicPr>
          <p:cNvPr id="5" name="Picture 4" descr="Proper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correlation matrix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3)</a:t>
            </a:r>
          </a:p>
        </p:txBody>
      </p:sp>
      <p:pic>
        <p:nvPicPr>
          <p:cNvPr id="3" name="Picture 2" descr="Proper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ncb impact</a:t>
            </a:r>
          </a:p>
        </p:txBody>
      </p:sp>
      <p:pic>
        <p:nvPicPr>
          <p:cNvPr id="5" name="Picture 4" descr="Property_scatter_vs_No_Claim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No Claim Years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4)</a:t>
            </a:r>
          </a:p>
        </p:txBody>
      </p:sp>
      <p:pic>
        <p:nvPicPr>
          <p:cNvPr id="3" name="Picture 2" descr="Property_scatter_vs_Property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Property Value</a:t>
            </a:r>
          </a:p>
        </p:txBody>
      </p:sp>
      <p:pic>
        <p:nvPicPr>
          <p:cNvPr id="5" name="Picture 4" descr="Proper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target distribution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1)</a:t>
            </a:r>
          </a:p>
        </p:txBody>
      </p:sp>
      <p:pic>
        <p:nvPicPr>
          <p:cNvPr id="3" name="Picture 2" descr="Specialty_box_Asse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Asset Type</a:t>
            </a:r>
          </a:p>
        </p:txBody>
      </p:sp>
      <p:pic>
        <p:nvPicPr>
          <p:cNvPr id="5" name="Picture 4" descr="Specialty_box_Risk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Risk Factor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2)</a:t>
            </a:r>
          </a:p>
        </p:txBody>
      </p:sp>
      <p:pic>
        <p:nvPicPr>
          <p:cNvPr id="3" name="Picture 2" descr="Special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Sub Type</a:t>
            </a:r>
          </a:p>
        </p:txBody>
      </p:sp>
      <p:pic>
        <p:nvPicPr>
          <p:cNvPr id="5" name="Picture 4" descr="Special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correlation matrix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3)</a:t>
            </a:r>
          </a:p>
        </p:txBody>
      </p:sp>
      <p:pic>
        <p:nvPicPr>
          <p:cNvPr id="3" name="Picture 2" descr="Special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ncb impact</a:t>
            </a:r>
          </a:p>
        </p:txBody>
      </p:sp>
      <p:pic>
        <p:nvPicPr>
          <p:cNvPr id="5" name="Picture 4" descr="Specialty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Coverage Amount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4)</a:t>
            </a:r>
          </a:p>
        </p:txBody>
      </p:sp>
      <p:pic>
        <p:nvPicPr>
          <p:cNvPr id="3" name="Picture 2" descr="Specialty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No Claim Years</a:t>
            </a:r>
          </a:p>
        </p:txBody>
      </p:sp>
      <p:pic>
        <p:nvPicPr>
          <p:cNvPr id="5" name="Picture 4" descr="Special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target distribution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1)</a:t>
            </a:r>
          </a:p>
        </p:txBody>
      </p:sp>
      <p:pic>
        <p:nvPicPr>
          <p:cNvPr id="3" name="Picture 2" descr="Travel_box_Dest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Destination</a:t>
            </a:r>
          </a:p>
        </p:txBody>
      </p:sp>
      <p:pic>
        <p:nvPicPr>
          <p:cNvPr id="5" name="Picture 4" descr="Travel_box_Medical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Medical Cover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2)</a:t>
            </a:r>
          </a:p>
        </p:txBody>
      </p:sp>
      <p:pic>
        <p:nvPicPr>
          <p:cNvPr id="3" name="Picture 2" descr="Travel_box_Trip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Trip Type</a:t>
            </a:r>
          </a:p>
        </p:txBody>
      </p:sp>
      <p:pic>
        <p:nvPicPr>
          <p:cNvPr id="5" name="Picture 4" descr="Travel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correlation matrix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3)</a:t>
            </a:r>
          </a:p>
        </p:txBody>
      </p:sp>
      <p:pic>
        <p:nvPicPr>
          <p:cNvPr id="3" name="Picture 2" descr="Travel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ncb impact</a:t>
            </a:r>
          </a:p>
        </p:txBody>
      </p:sp>
      <p:pic>
        <p:nvPicPr>
          <p:cNvPr id="5" name="Picture 4" descr="Travel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Coverage Amount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4)</a:t>
            </a:r>
          </a:p>
        </p:txBody>
      </p:sp>
      <p:pic>
        <p:nvPicPr>
          <p:cNvPr id="3" name="Picture 2" descr="Travel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No Claim Years</a:t>
            </a:r>
          </a:p>
        </p:txBody>
      </p:sp>
      <p:pic>
        <p:nvPicPr>
          <p:cNvPr id="5" name="Picture 4" descr="Travel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target distribution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 Processing and its EDA outpur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Strategies</a:t>
            </a:r>
          </a:p>
          <a:p>
            <a:pPr lvl="1"/>
            <a:r>
              <a:t>Missing Values: Median strategy for numericals (SimpleImputer) and Constant strategy ('Unknown') for categoricals.</a:t>
            </a:r>
          </a:p>
          <a:p>
            <a:pPr lvl="1"/>
            <a:r>
              <a:t>Outliers: Variables mathematically capped via np.clip to prevent variance skew.</a:t>
            </a:r>
          </a:p>
          <a:p>
            <a:pPr lvl="1"/>
            <a:r>
              <a:t>Scaling: Normalization via StandardScaler targeting optimal geometric space for distance algorithms (e.g. KNN/SVR).</a:t>
            </a:r>
          </a:p>
          <a:p>
            <a:pPr lvl="1"/>
            <a:r>
              <a:t>Encoding: LabelEncoder (binary) &amp; OneHotEncoder for multi-class categorical configurations.</a:t>
            </a:r>
          </a:p>
          <a:p>
            <a:pPr lvl="1"/>
            <a:r>
              <a:t>Feature Engineering: Synthesized variables via PolynomialFeatures (e.g. Compound actuarial risk of Age + Smoking).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Planned and expected Prediction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Evaluation Baseline:</a:t>
            </a:r>
          </a:p>
          <a:p>
            <a:pPr lvl="1"/>
            <a:r>
              <a:t>Linear Algorithms: Linear Regression, SVR, KNN.</a:t>
            </a:r>
          </a:p>
          <a:p>
            <a:pPr lvl="1"/>
            <a:r>
              <a:t>Tree Ensembles: Random Forest, Decision Tree.</a:t>
            </a:r>
          </a:p>
          <a:p>
            <a:pPr lvl="1"/>
            <a:r>
              <a:t>Boosting Mechanisms: Gradient Boosting, XGBoost.</a:t>
            </a:r>
          </a:p>
          <a:p>
            <a:pPr/>
            <a:r>
              <a:t>Final Output Profiles:</a:t>
            </a:r>
          </a:p>
          <a:p>
            <a:pPr lvl="1"/>
            <a:r>
              <a:t>Accuracy Benchmark: Maximum accepted Mean Absolute Error capped safely under ~$550 tolerance.</a:t>
            </a:r>
          </a:p>
          <a:p>
            <a:pPr lvl="1"/>
            <a:r>
              <a:t>Best Method Found: Gradient Boosting mapped non-linear incentives successfully (R²: 0.9362 with MAE: $473).</a:t>
            </a:r>
          </a:p>
          <a:p>
            <a:pPr lvl="1"/>
            <a:r>
              <a:t>Risk Profiler: Binary mapping users via Random Forest as High/Low risk yielded a highly resilient 99.71% test accuracy.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Outcomes by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Performace (R² Score) Extrapolated Across Domains:</a:t>
            </a:r>
          </a:p>
          <a:p>
            <a:pPr lvl="1"/>
            <a:r>
              <a:t>Core Claim Dataset: Gradient Boosting successfully achieved 0.9362 R² ($473 MAE).</a:t>
            </a:r>
          </a:p>
          <a:p>
            <a:pPr lvl="1"/>
            <a:r>
              <a:t>Travel Insurance: Top model yielded 0.7209 R².</a:t>
            </a:r>
          </a:p>
          <a:p>
            <a:pPr lvl="1"/>
            <a:r>
              <a:t>Life Insurance: Top model yielded 0.6828 R².</a:t>
            </a:r>
          </a:p>
          <a:p>
            <a:pPr lvl="1"/>
            <a:r>
              <a:t>Health Insurance: Top model yielded 0.6576 R².</a:t>
            </a:r>
          </a:p>
          <a:p>
            <a:pPr lvl="1"/>
            <a:r>
              <a:t>Motor Insurance: Top model yielded 0.6301 R².</a:t>
            </a:r>
          </a:p>
          <a:p>
            <a:pPr lvl="1"/>
            <a:r>
              <a:t>Property Insurance: Only dataset where Linear Regression prevailed (0.6253 R²).</a:t>
            </a:r>
          </a:p>
          <a:p>
            <a:pPr lvl="1"/>
            <a:r>
              <a:t>Business Insurance: Top model yielded 0.5967 R².</a:t>
            </a:r>
          </a:p>
          <a:p>
            <a:pPr lvl="1"/>
            <a:r>
              <a:t>Specialty Insurance: Top model yielded 0.5927 R².</a:t>
            </a:r>
          </a:p>
          <a:p>
            <a:pPr/>
            <a:r>
              <a:t>Conclusion: Non-linear boosting models drastically outperform standardized distance formulas for insurance computation.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